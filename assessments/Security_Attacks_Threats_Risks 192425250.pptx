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63A1139-8D88-DDB2-B3FF-A023EF8B0355}">
          <p14:sldIdLst>
            <p14:sldId id="256"/>
            <p14:sldId id="257"/>
          </p14:sldIdLst>
        </p14:section>
        <p14:section name="Fundamentals" id="{B7B36AE0-61BB-3BBF-032A-6129B989BF5F}">
          <p14:sldIdLst>
            <p14:sldId id="258"/>
            <p14:sldId id="259"/>
          </p14:sldIdLst>
        </p14:section>
        <p14:section name="Attacks and Threats" id="{536C6E35-D187-C769-633A-D793FEA5979E}">
          <p14:sldIdLst>
            <p14:sldId id="260"/>
            <p14:sldId id="261"/>
            <p14:sldId id="262"/>
            <p14:sldId id="263"/>
          </p14:sldIdLst>
        </p14:section>
        <p14:section name="Risk and Defense" id="{8AAC40AB-0AB9-2163-D061-8CF2BBA2252F}">
          <p14:sldIdLst>
            <p14:sldId id="264"/>
            <p14:sldId id="265"/>
          </p14:sldIdLst>
        </p14:section>
        <p14:section name="Wrap-up" id="{1A99F72E-B4C2-93D1-3E46-11C0041F555C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23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how attacks, threats and risks map onto the core security goals, and how we defend against them. About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parts: goals, vocabulary, attacks and their impact, then risk management and defenses.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CIA is the core triad. Authentication and non-repudiation extend it for networked and legal contexts. Every attack later maps back to one or more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threat only becomes an attack when someone acts on it. Risk exists only where a threat meets a vulnerability and the impact matters to the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Passive attackers only listen, so the defense is to make intercepted data useless. Active attackers change things, so we focus on detecting and recovering.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active attack has a primary goal it breaks, shown in the tag. Masquerade is the broadest: once an attacker is trusted, several goals fall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tour of what we see in practice. Note that several are attack techniques (SQLi, MITM) while others are threat actors or categories (insider, malware).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 a row to see what an attack damages; read down a column to see which attacks threaten a goal. Masquerade touches four goals, which is why identity controls matter so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management is a loop, not a one-off. Treatment is a business decision: mitigate, transfer, avoid or accept based on the ranked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every control back to the goal it protects. Layer them: no single control covers all five goals, which is the idea behind defense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well-known incidents. In each, a basic hygiene gap (patching, default credentials) turned a known threat into a large-scale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chain: threats exploit vulnerabilities, attacks break goals, risk management and layered controls reduce the impact.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914400"/>
            <a:ext cx="51206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315468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Security Attacks, Threats &amp; Risks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252919" y="564204"/>
            <a:ext cx="5416361" cy="15304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Security Attacks, Threats, Risks and Their Impact on Security Goals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4" hasCustomPrompt="1"/>
          </p:nvPr>
        </p:nvSpPr>
        <p:spPr>
          <a:xfrm>
            <a:off x="51881" y="2678349"/>
            <a:ext cx="7016885" cy="2101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</a:rPr>
              <a:t>Technical Presentation</a:t>
            </a:r>
            <a:endParaRPr lang="en-US" sz="1600" dirty="0"/>
          </a:p>
          <a:p>
            <a:pPr marL="0" indent="0">
              <a:buNone/>
            </a:pPr>
            <a:r>
              <a:rPr lang="en-US" sz="1600">
                <a:solidFill>
                  <a:schemeClr val="bg2"/>
                </a:solidFill>
              </a:rPr>
              <a:t>Name: Namburi Sai Yashaswini  </a:t>
            </a:r>
            <a:r>
              <a:rPr lang="en-US" sz="1600" dirty="0">
                <a:solidFill>
                  <a:schemeClr val="bg2"/>
                </a:solidFill>
              </a:rPr>
              <a:t>|  B.Tech AI &amp; ML, </a:t>
            </a:r>
            <a:r>
              <a:rPr lang="en-US" sz="1600">
                <a:solidFill>
                  <a:schemeClr val="bg2"/>
                </a:solidFill>
              </a:rPr>
              <a:t>SIMATS Engineering</a:t>
            </a:r>
            <a:endParaRPr lang="en-US"/>
          </a:p>
          <a:p>
            <a:pPr marL="0" indent="0">
              <a:buNone/>
            </a:pPr>
            <a:r>
              <a:rPr lang="en-US" sz="1600">
                <a:solidFill>
                  <a:schemeClr val="bg2"/>
                </a:solidFill>
              </a:rPr>
              <a:t>Reg No:192425250</a:t>
            </a:r>
          </a:p>
          <a:p>
            <a:pPr marL="0" indent="0">
              <a:buNone/>
            </a:pPr>
            <a:r>
              <a:rPr lang="en-US"/>
              <a:t>Course Code:CSA5117</a:t>
            </a:r>
          </a:p>
          <a:p>
            <a:pPr marL="0" indent="0">
              <a:buNone/>
            </a:pPr>
            <a:r>
              <a:rPr lang="en-US" sz="1600"/>
              <a:t>Course:Cryptography and Network Security</a:t>
            </a:r>
            <a:endParaRPr lang="en-US" sz="1600" dirty="0"/>
          </a:p>
        </p:txBody>
      </p:sp>
      <p:pic>
        <p:nvPicPr>
          <p:cNvPr id="4" name="Shield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916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We Will Cover</a:t>
            </a:r>
            <a:endParaRPr lang="en-US" sz="3600" dirty="0"/>
          </a:p>
        </p:txBody>
      </p:sp>
      <p:sp>
        <p:nvSpPr>
          <p:cNvPr id="3" name="Agenda card 1"/>
          <p:cNvSpPr/>
          <p:nvPr/>
        </p:nvSpPr>
        <p:spPr>
          <a:xfrm>
            <a:off x="457200" y="1280160"/>
            <a:ext cx="40462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Agenda 1 circle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5" name="Agenda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629461"/>
            <a:ext cx="307238" cy="307238"/>
          </a:xfrm>
          <a:prstGeom prst="rect">
            <a:avLst/>
          </a:prstGeom>
        </p:spPr>
      </p:pic>
      <p:sp>
        <p:nvSpPr>
          <p:cNvPr id="6" name="Agenda title 1"/>
          <p:cNvSpPr txBox="1"/>
          <p:nvPr/>
        </p:nvSpPr>
        <p:spPr>
          <a:xfrm>
            <a:off x="1508760" y="1481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Security Goals</a:t>
            </a:r>
            <a:endParaRPr lang="en-US" sz="1800" dirty="0"/>
          </a:p>
        </p:txBody>
      </p:sp>
      <p:sp>
        <p:nvSpPr>
          <p:cNvPr id="7" name="Agenda text 1"/>
          <p:cNvSpPr txBox="1"/>
          <p:nvPr/>
        </p:nvSpPr>
        <p:spPr>
          <a:xfrm>
            <a:off x="1508760" y="1920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CIA triad plus authentication and non-repudiation</a:t>
            </a:r>
            <a:endParaRPr lang="en-US" sz="1400" dirty="0"/>
          </a:p>
        </p:txBody>
      </p:sp>
      <p:sp>
        <p:nvSpPr>
          <p:cNvPr id="8" name="Agenda card 2"/>
          <p:cNvSpPr/>
          <p:nvPr/>
        </p:nvSpPr>
        <p:spPr>
          <a:xfrm>
            <a:off x="4640580" y="1280160"/>
            <a:ext cx="40462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Agenda 2 circle"/>
          <p:cNvSpPr/>
          <p:nvPr/>
        </p:nvSpPr>
        <p:spPr>
          <a:xfrm>
            <a:off x="4869180" y="1463040"/>
            <a:ext cx="640080" cy="640080"/>
          </a:xfrm>
          <a:prstGeom prst="ellipse">
            <a:avLst/>
          </a:prstGeom>
          <a:solidFill>
            <a:srgbClr val="0096C7"/>
          </a:solidFill>
          <a:ln/>
        </p:spPr>
      </p:sp>
      <p:pic>
        <p:nvPicPr>
          <p:cNvPr id="10" name="Agenda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601" y="1629461"/>
            <a:ext cx="307238" cy="307238"/>
          </a:xfrm>
          <a:prstGeom prst="rect">
            <a:avLst/>
          </a:prstGeom>
        </p:spPr>
      </p:pic>
      <p:sp>
        <p:nvSpPr>
          <p:cNvPr id="11" name="Agenda title 2"/>
          <p:cNvSpPr txBox="1"/>
          <p:nvPr/>
        </p:nvSpPr>
        <p:spPr>
          <a:xfrm>
            <a:off x="5692140" y="1481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Threats, Attacks, Risks</a:t>
            </a:r>
            <a:endParaRPr lang="en-US" sz="1800" dirty="0"/>
          </a:p>
        </p:txBody>
      </p:sp>
      <p:sp>
        <p:nvSpPr>
          <p:cNvPr id="12" name="Agenda text 2"/>
          <p:cNvSpPr txBox="1"/>
          <p:nvPr/>
        </p:nvSpPr>
        <p:spPr>
          <a:xfrm>
            <a:off x="5692140" y="1920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Key terms and how they differ</a:t>
            </a:r>
            <a:endParaRPr lang="en-US" sz="1400" dirty="0"/>
          </a:p>
        </p:txBody>
      </p:sp>
      <p:sp>
        <p:nvSpPr>
          <p:cNvPr id="13" name="Agenda card 3"/>
          <p:cNvSpPr/>
          <p:nvPr/>
        </p:nvSpPr>
        <p:spPr>
          <a:xfrm>
            <a:off x="457200" y="2880360"/>
            <a:ext cx="40462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Agenda 3 circle"/>
          <p:cNvSpPr/>
          <p:nvPr/>
        </p:nvSpPr>
        <p:spPr>
          <a:xfrm>
            <a:off x="685800" y="3063240"/>
            <a:ext cx="640080" cy="640080"/>
          </a:xfrm>
          <a:prstGeom prst="ellipse">
            <a:avLst/>
          </a:prstGeom>
          <a:solidFill>
            <a:srgbClr val="E88D2A"/>
          </a:solidFill>
          <a:ln/>
        </p:spPr>
      </p:sp>
      <p:pic>
        <p:nvPicPr>
          <p:cNvPr id="15" name="Agenda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3229661"/>
            <a:ext cx="307238" cy="307238"/>
          </a:xfrm>
          <a:prstGeom prst="rect">
            <a:avLst/>
          </a:prstGeom>
        </p:spPr>
      </p:pic>
      <p:sp>
        <p:nvSpPr>
          <p:cNvPr id="16" name="Agenda title 3"/>
          <p:cNvSpPr txBox="1"/>
          <p:nvPr/>
        </p:nvSpPr>
        <p:spPr>
          <a:xfrm>
            <a:off x="1508760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Attack Types and Impact</a:t>
            </a:r>
            <a:endParaRPr lang="en-US" sz="1800" dirty="0"/>
          </a:p>
        </p:txBody>
      </p:sp>
      <p:sp>
        <p:nvSpPr>
          <p:cNvPr id="17" name="Agenda text 3"/>
          <p:cNvSpPr txBox="1"/>
          <p:nvPr/>
        </p:nvSpPr>
        <p:spPr>
          <a:xfrm>
            <a:off x="150876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Passive, active and which goals each one breaks</a:t>
            </a:r>
            <a:endParaRPr lang="en-US" sz="1400" dirty="0"/>
          </a:p>
        </p:txBody>
      </p:sp>
      <p:sp>
        <p:nvSpPr>
          <p:cNvPr id="18" name="Agenda card 4"/>
          <p:cNvSpPr/>
          <p:nvPr/>
        </p:nvSpPr>
        <p:spPr>
          <a:xfrm>
            <a:off x="4640580" y="2880360"/>
            <a:ext cx="40462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9" name="Agenda 4 circle"/>
          <p:cNvSpPr/>
          <p:nvPr/>
        </p:nvSpPr>
        <p:spPr>
          <a:xfrm>
            <a:off x="4869180" y="306324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Agenda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5601" y="3229661"/>
            <a:ext cx="307238" cy="307238"/>
          </a:xfrm>
          <a:prstGeom prst="rect">
            <a:avLst/>
          </a:prstGeom>
        </p:spPr>
      </p:pic>
      <p:sp>
        <p:nvSpPr>
          <p:cNvPr id="21" name="Agenda title 4"/>
          <p:cNvSpPr txBox="1"/>
          <p:nvPr/>
        </p:nvSpPr>
        <p:spPr>
          <a:xfrm>
            <a:off x="5692140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Risk and Defense</a:t>
            </a:r>
            <a:endParaRPr lang="en-US" sz="1800" dirty="0"/>
          </a:p>
        </p:txBody>
      </p:sp>
      <p:sp>
        <p:nvSpPr>
          <p:cNvPr id="22" name="Agenda text 4"/>
          <p:cNvSpPr txBox="1"/>
          <p:nvPr/>
        </p:nvSpPr>
        <p:spPr>
          <a:xfrm>
            <a:off x="569214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Risk process, controls and real incidents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Security Goals</a:t>
            </a:r>
            <a:endParaRPr lang="en-US" sz="3600" dirty="0"/>
          </a:p>
        </p:txBody>
      </p:sp>
      <p:sp>
        <p:nvSpPr>
          <p:cNvPr id="3" name="Goal card 1"/>
          <p:cNvSpPr/>
          <p:nvPr/>
        </p:nvSpPr>
        <p:spPr>
          <a:xfrm>
            <a:off x="457200" y="118872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Goal 1 circle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5" name="Goal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1502359"/>
            <a:ext cx="241402" cy="241402"/>
          </a:xfrm>
          <a:prstGeom prst="rect">
            <a:avLst/>
          </a:prstGeom>
        </p:spPr>
      </p:pic>
      <p:sp>
        <p:nvSpPr>
          <p:cNvPr id="6" name="Goal title 1"/>
          <p:cNvSpPr txBox="1"/>
          <p:nvPr/>
        </p:nvSpPr>
        <p:spPr>
          <a:xfrm>
            <a:off x="128016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Confidentiality</a:t>
            </a:r>
            <a:endParaRPr lang="en-US" sz="1800" dirty="0"/>
          </a:p>
        </p:txBody>
      </p:sp>
      <p:sp>
        <p:nvSpPr>
          <p:cNvPr id="7" name="Goal text 1"/>
          <p:cNvSpPr txBox="1"/>
          <p:nvPr/>
        </p:nvSpPr>
        <p:spPr>
          <a:xfrm>
            <a:off x="64008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Only authorized parties can read the data</a:t>
            </a:r>
            <a:endParaRPr lang="en-US" sz="1400" dirty="0"/>
          </a:p>
        </p:txBody>
      </p:sp>
      <p:sp>
        <p:nvSpPr>
          <p:cNvPr id="8" name="Goal card 2"/>
          <p:cNvSpPr/>
          <p:nvPr/>
        </p:nvSpPr>
        <p:spPr>
          <a:xfrm>
            <a:off x="3246120" y="118872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Goal 2 circle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rgbClr val="0096C7"/>
          </a:solidFill>
          <a:ln/>
        </p:spPr>
      </p:sp>
      <p:pic>
        <p:nvPicPr>
          <p:cNvPr id="10" name="Goal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759" y="1502359"/>
            <a:ext cx="241402" cy="241402"/>
          </a:xfrm>
          <a:prstGeom prst="rect">
            <a:avLst/>
          </a:prstGeom>
        </p:spPr>
      </p:pic>
      <p:sp>
        <p:nvSpPr>
          <p:cNvPr id="11" name="Goal title 2"/>
          <p:cNvSpPr txBox="1"/>
          <p:nvPr/>
        </p:nvSpPr>
        <p:spPr>
          <a:xfrm>
            <a:off x="406908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Integrity</a:t>
            </a:r>
            <a:endParaRPr lang="en-US" sz="1800" dirty="0"/>
          </a:p>
        </p:txBody>
      </p:sp>
      <p:sp>
        <p:nvSpPr>
          <p:cNvPr id="12" name="Goal text 2"/>
          <p:cNvSpPr txBox="1"/>
          <p:nvPr/>
        </p:nvSpPr>
        <p:spPr>
          <a:xfrm>
            <a:off x="342900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Data is accurate and unaltered in transit or storage</a:t>
            </a:r>
            <a:endParaRPr lang="en-US" sz="1400" dirty="0"/>
          </a:p>
        </p:txBody>
      </p:sp>
      <p:sp>
        <p:nvSpPr>
          <p:cNvPr id="13" name="Goal card 3"/>
          <p:cNvSpPr/>
          <p:nvPr/>
        </p:nvSpPr>
        <p:spPr>
          <a:xfrm>
            <a:off x="6035040" y="118872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Goal 3 circle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E88D2A"/>
          </a:solidFill>
          <a:ln/>
        </p:spPr>
      </p:sp>
      <p:pic>
        <p:nvPicPr>
          <p:cNvPr id="15" name="Goal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679" y="1502359"/>
            <a:ext cx="241402" cy="241402"/>
          </a:xfrm>
          <a:prstGeom prst="rect">
            <a:avLst/>
          </a:prstGeom>
        </p:spPr>
      </p:pic>
      <p:sp>
        <p:nvSpPr>
          <p:cNvPr id="16" name="Goal title 3"/>
          <p:cNvSpPr txBox="1"/>
          <p:nvPr/>
        </p:nvSpPr>
        <p:spPr>
          <a:xfrm>
            <a:off x="6858000" y="1371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Availability</a:t>
            </a:r>
            <a:endParaRPr lang="en-US" sz="1800" dirty="0"/>
          </a:p>
        </p:txBody>
      </p:sp>
      <p:sp>
        <p:nvSpPr>
          <p:cNvPr id="17" name="Goal text 3"/>
          <p:cNvSpPr txBox="1"/>
          <p:nvPr/>
        </p:nvSpPr>
        <p:spPr>
          <a:xfrm>
            <a:off x="6217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Systems and data are usable when needed</a:t>
            </a:r>
            <a:endParaRPr lang="en-US" sz="1400" dirty="0"/>
          </a:p>
        </p:txBody>
      </p:sp>
      <p:sp>
        <p:nvSpPr>
          <p:cNvPr id="18" name="Goal card 4"/>
          <p:cNvSpPr/>
          <p:nvPr/>
        </p:nvSpPr>
        <p:spPr>
          <a:xfrm>
            <a:off x="457200" y="2880360"/>
            <a:ext cx="40462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Goal 4 circle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Goal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" y="3193999"/>
            <a:ext cx="241402" cy="241402"/>
          </a:xfrm>
          <a:prstGeom prst="rect">
            <a:avLst/>
          </a:prstGeom>
        </p:spPr>
      </p:pic>
      <p:sp>
        <p:nvSpPr>
          <p:cNvPr id="21" name="Goal title 4"/>
          <p:cNvSpPr txBox="1"/>
          <p:nvPr/>
        </p:nvSpPr>
        <p:spPr>
          <a:xfrm>
            <a:off x="1280160" y="3063240"/>
            <a:ext cx="3131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Authentication</a:t>
            </a:r>
            <a:endParaRPr lang="en-US" sz="1800" dirty="0"/>
          </a:p>
        </p:txBody>
      </p:sp>
      <p:sp>
        <p:nvSpPr>
          <p:cNvPr id="22" name="Goal text 4"/>
          <p:cNvSpPr txBox="1"/>
          <p:nvPr/>
        </p:nvSpPr>
        <p:spPr>
          <a:xfrm>
            <a:off x="640080" y="3703320"/>
            <a:ext cx="36804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Users and systems are who they claim to be</a:t>
            </a:r>
            <a:endParaRPr lang="en-US" sz="1400" dirty="0"/>
          </a:p>
        </p:txBody>
      </p:sp>
      <p:sp>
        <p:nvSpPr>
          <p:cNvPr id="23" name="Goal card 5"/>
          <p:cNvSpPr/>
          <p:nvPr/>
        </p:nvSpPr>
        <p:spPr>
          <a:xfrm>
            <a:off x="4640580" y="2880360"/>
            <a:ext cx="40462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4" name="Goal 5 circle"/>
          <p:cNvSpPr/>
          <p:nvPr/>
        </p:nvSpPr>
        <p:spPr>
          <a:xfrm>
            <a:off x="4823460" y="30632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5" name="Goal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4219" y="3193999"/>
            <a:ext cx="241402" cy="241402"/>
          </a:xfrm>
          <a:prstGeom prst="rect">
            <a:avLst/>
          </a:prstGeom>
        </p:spPr>
      </p:pic>
      <p:sp>
        <p:nvSpPr>
          <p:cNvPr id="26" name="Goal title 5"/>
          <p:cNvSpPr txBox="1"/>
          <p:nvPr/>
        </p:nvSpPr>
        <p:spPr>
          <a:xfrm>
            <a:off x="5463540" y="3063240"/>
            <a:ext cx="3131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Non-repudiation</a:t>
            </a:r>
            <a:endParaRPr lang="en-US" sz="1800" dirty="0"/>
          </a:p>
        </p:txBody>
      </p:sp>
      <p:sp>
        <p:nvSpPr>
          <p:cNvPr id="27" name="Goal text 5"/>
          <p:cNvSpPr txBox="1"/>
          <p:nvPr/>
        </p:nvSpPr>
        <p:spPr>
          <a:xfrm>
            <a:off x="4823460" y="3703320"/>
            <a:ext cx="36804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Senders cannot deny actions they performed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Threat, Vulnerability, Attack, Risk</a:t>
            </a:r>
            <a:endParaRPr lang="en-US" sz="3600" dirty="0"/>
          </a:p>
        </p:txBody>
      </p:sp>
      <p:sp>
        <p:nvSpPr>
          <p:cNvPr id="3" name="Term card 1"/>
          <p:cNvSpPr/>
          <p:nvPr/>
        </p:nvSpPr>
        <p:spPr>
          <a:xfrm>
            <a:off x="457200" y="1188720"/>
            <a:ext cx="40462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4" name="Term 1 circle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E88D2A"/>
          </a:solidFill>
          <a:ln/>
        </p:spPr>
      </p:sp>
      <p:pic>
        <p:nvPicPr>
          <p:cNvPr id="5" name="Term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4" y="1617574"/>
            <a:ext cx="285293" cy="285293"/>
          </a:xfrm>
          <a:prstGeom prst="rect">
            <a:avLst/>
          </a:prstGeom>
        </p:spPr>
      </p:pic>
      <p:sp>
        <p:nvSpPr>
          <p:cNvPr id="6" name="Term title 1"/>
          <p:cNvSpPr txBox="1"/>
          <p:nvPr/>
        </p:nvSpPr>
        <p:spPr>
          <a:xfrm>
            <a:off x="141732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Threat</a:t>
            </a:r>
            <a:endParaRPr lang="en-US" sz="1800" dirty="0"/>
          </a:p>
        </p:txBody>
      </p:sp>
      <p:sp>
        <p:nvSpPr>
          <p:cNvPr id="7" name="Term text 1"/>
          <p:cNvSpPr txBox="1"/>
          <p:nvPr/>
        </p:nvSpPr>
        <p:spPr>
          <a:xfrm>
            <a:off x="1417320" y="17190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potential event that could harm an asset</a:t>
            </a:r>
            <a:endParaRPr lang="en-US" sz="1400" dirty="0"/>
          </a:p>
        </p:txBody>
      </p:sp>
      <p:sp>
        <p:nvSpPr>
          <p:cNvPr id="8" name="Term card 2"/>
          <p:cNvSpPr/>
          <p:nvPr/>
        </p:nvSpPr>
        <p:spPr>
          <a:xfrm>
            <a:off x="4640580" y="1188720"/>
            <a:ext cx="40462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9" name="Term 2 circle"/>
          <p:cNvSpPr/>
          <p:nvPr/>
        </p:nvSpPr>
        <p:spPr>
          <a:xfrm>
            <a:off x="4823460" y="1463040"/>
            <a:ext cx="594360" cy="594360"/>
          </a:xfrm>
          <a:prstGeom prst="ellipse">
            <a:avLst/>
          </a:prstGeom>
          <a:solidFill>
            <a:srgbClr val="0096C7"/>
          </a:solidFill>
          <a:ln/>
        </p:spPr>
      </p:sp>
      <p:pic>
        <p:nvPicPr>
          <p:cNvPr id="10" name="Term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994" y="1617574"/>
            <a:ext cx="285293" cy="285293"/>
          </a:xfrm>
          <a:prstGeom prst="rect">
            <a:avLst/>
          </a:prstGeom>
        </p:spPr>
      </p:pic>
      <p:sp>
        <p:nvSpPr>
          <p:cNvPr id="11" name="Term title 2"/>
          <p:cNvSpPr txBox="1"/>
          <p:nvPr/>
        </p:nvSpPr>
        <p:spPr>
          <a:xfrm>
            <a:off x="56007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Vulnerability</a:t>
            </a:r>
            <a:endParaRPr lang="en-US" sz="1800" dirty="0"/>
          </a:p>
        </p:txBody>
      </p:sp>
      <p:sp>
        <p:nvSpPr>
          <p:cNvPr id="12" name="Term text 2"/>
          <p:cNvSpPr txBox="1"/>
          <p:nvPr/>
        </p:nvSpPr>
        <p:spPr>
          <a:xfrm>
            <a:off x="5600700" y="17190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weakness that a threat can exploit</a:t>
            </a:r>
            <a:endParaRPr lang="en-US" sz="1400" dirty="0"/>
          </a:p>
        </p:txBody>
      </p:sp>
      <p:sp>
        <p:nvSpPr>
          <p:cNvPr id="13" name="Term card 3"/>
          <p:cNvSpPr/>
          <p:nvPr/>
        </p:nvSpPr>
        <p:spPr>
          <a:xfrm>
            <a:off x="457200" y="2468880"/>
            <a:ext cx="40462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Term 3 circle"/>
          <p:cNvSpPr/>
          <p:nvPr/>
        </p:nvSpPr>
        <p:spPr>
          <a:xfrm>
            <a:off x="640080" y="2743200"/>
            <a:ext cx="594360" cy="59436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5" name="Term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4" y="2897734"/>
            <a:ext cx="285293" cy="285293"/>
          </a:xfrm>
          <a:prstGeom prst="rect">
            <a:avLst/>
          </a:prstGeom>
        </p:spPr>
      </p:pic>
      <p:sp>
        <p:nvSpPr>
          <p:cNvPr id="16" name="Term title 3"/>
          <p:cNvSpPr txBox="1"/>
          <p:nvPr/>
        </p:nvSpPr>
        <p:spPr>
          <a:xfrm>
            <a:off x="14173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Attack</a:t>
            </a:r>
            <a:endParaRPr lang="en-US" sz="1800" dirty="0"/>
          </a:p>
        </p:txBody>
      </p:sp>
      <p:sp>
        <p:nvSpPr>
          <p:cNvPr id="17" name="Term text 3"/>
          <p:cNvSpPr txBox="1"/>
          <p:nvPr/>
        </p:nvSpPr>
        <p:spPr>
          <a:xfrm>
            <a:off x="1417320" y="29992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deliberate action that exploits a vulnerability</a:t>
            </a:r>
            <a:endParaRPr lang="en-US" sz="1400" dirty="0"/>
          </a:p>
        </p:txBody>
      </p:sp>
      <p:sp>
        <p:nvSpPr>
          <p:cNvPr id="18" name="Term card 4"/>
          <p:cNvSpPr/>
          <p:nvPr/>
        </p:nvSpPr>
        <p:spPr>
          <a:xfrm>
            <a:off x="4640580" y="2468880"/>
            <a:ext cx="40462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9" name="Term 4 circle"/>
          <p:cNvSpPr/>
          <p:nvPr/>
        </p:nvSpPr>
        <p:spPr>
          <a:xfrm>
            <a:off x="4823460" y="2743200"/>
            <a:ext cx="594360" cy="59436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Term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994" y="2897734"/>
            <a:ext cx="285293" cy="285293"/>
          </a:xfrm>
          <a:prstGeom prst="rect">
            <a:avLst/>
          </a:prstGeom>
        </p:spPr>
      </p:pic>
      <p:sp>
        <p:nvSpPr>
          <p:cNvPr id="21" name="Term title 4"/>
          <p:cNvSpPr txBox="1"/>
          <p:nvPr/>
        </p:nvSpPr>
        <p:spPr>
          <a:xfrm>
            <a:off x="560070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Risk</a:t>
            </a:r>
            <a:endParaRPr lang="en-US" sz="1800" dirty="0"/>
          </a:p>
        </p:txBody>
      </p:sp>
      <p:sp>
        <p:nvSpPr>
          <p:cNvPr id="22" name="Term text 4"/>
          <p:cNvSpPr txBox="1"/>
          <p:nvPr/>
        </p:nvSpPr>
        <p:spPr>
          <a:xfrm>
            <a:off x="5600700" y="29992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expected loss: likelihood combined with impact</a:t>
            </a:r>
            <a:endParaRPr lang="en-US" sz="1400" dirty="0"/>
          </a:p>
        </p:txBody>
      </p:sp>
      <p:sp>
        <p:nvSpPr>
          <p:cNvPr id="23" name="Formula banner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24" name="Formula text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Risk  =  Threat  ×  Vulnerability  ×  Impact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Passive vs Active Attacks</a:t>
            </a:r>
            <a:endParaRPr lang="en-US" sz="3600" dirty="0"/>
          </a:p>
        </p:txBody>
      </p:sp>
      <p:sp>
        <p:nvSpPr>
          <p:cNvPr id="3" name="Passive card"/>
          <p:cNvSpPr/>
          <p:nvPr/>
        </p:nvSpPr>
        <p:spPr>
          <a:xfrm>
            <a:off x="457200" y="1188720"/>
            <a:ext cx="404622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Passive circle"/>
          <p:cNvSpPr/>
          <p:nvPr/>
        </p:nvSpPr>
        <p:spPr>
          <a:xfrm>
            <a:off x="685800" y="1371600"/>
            <a:ext cx="594360" cy="594360"/>
          </a:xfrm>
          <a:prstGeom prst="ellipse">
            <a:avLst/>
          </a:prstGeom>
          <a:solidFill>
            <a:srgbClr val="0096C7"/>
          </a:solidFill>
          <a:ln/>
        </p:spPr>
      </p:sp>
      <p:pic>
        <p:nvPicPr>
          <p:cNvPr id="5" name="Passiv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4" y="1526134"/>
            <a:ext cx="285293" cy="285293"/>
          </a:xfrm>
          <a:prstGeom prst="rect">
            <a:avLst/>
          </a:prstGeom>
        </p:spPr>
      </p:pic>
      <p:sp>
        <p:nvSpPr>
          <p:cNvPr id="6" name="Passive title"/>
          <p:cNvSpPr txBox="1"/>
          <p:nvPr/>
        </p:nvSpPr>
        <p:spPr>
          <a:xfrm>
            <a:off x="14630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Passive</a:t>
            </a:r>
            <a:endParaRPr lang="en-US" sz="2200" dirty="0"/>
          </a:p>
        </p:txBody>
      </p:sp>
      <p:sp>
        <p:nvSpPr>
          <p:cNvPr id="7" name="Passive subtitle"/>
          <p:cNvSpPr txBox="1"/>
          <p:nvPr/>
        </p:nvSpPr>
        <p:spPr>
          <a:xfrm>
            <a:off x="1463040" y="1755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Observe or copy; nothing is changed</a:t>
            </a:r>
            <a:endParaRPr lang="en-US" sz="1400" dirty="0"/>
          </a:p>
        </p:txBody>
      </p:sp>
      <p:sp>
        <p:nvSpPr>
          <p:cNvPr id="8" name="Passive bullets"/>
          <p:cNvSpPr txBox="1"/>
          <p:nvPr/>
        </p:nvSpPr>
        <p:spPr>
          <a:xfrm>
            <a:off x="731520" y="233172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Very hard to detect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Targets confidentiality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Eavesdropping, traffic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Defense: prevention, mainly encryption</a:t>
            </a:r>
            <a:endParaRPr lang="en-US" sz="1400" dirty="0"/>
          </a:p>
        </p:txBody>
      </p:sp>
      <p:sp>
        <p:nvSpPr>
          <p:cNvPr id="9" name="Active card"/>
          <p:cNvSpPr/>
          <p:nvPr/>
        </p:nvSpPr>
        <p:spPr>
          <a:xfrm>
            <a:off x="4640580" y="1188720"/>
            <a:ext cx="404622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/>
        </p:spPr>
      </p:sp>
      <p:sp>
        <p:nvSpPr>
          <p:cNvPr id="10" name="Active circle"/>
          <p:cNvSpPr/>
          <p:nvPr/>
        </p:nvSpPr>
        <p:spPr>
          <a:xfrm>
            <a:off x="4869180" y="1371600"/>
            <a:ext cx="594360" cy="59436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1" name="Activ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714" y="1526134"/>
            <a:ext cx="285293" cy="285293"/>
          </a:xfrm>
          <a:prstGeom prst="rect">
            <a:avLst/>
          </a:prstGeom>
        </p:spPr>
      </p:pic>
      <p:sp>
        <p:nvSpPr>
          <p:cNvPr id="12" name="Active title"/>
          <p:cNvSpPr txBox="1"/>
          <p:nvPr/>
        </p:nvSpPr>
        <p:spPr>
          <a:xfrm>
            <a:off x="564642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Active</a:t>
            </a:r>
            <a:endParaRPr lang="en-US" sz="2200" dirty="0"/>
          </a:p>
        </p:txBody>
      </p:sp>
      <p:sp>
        <p:nvSpPr>
          <p:cNvPr id="13" name="Active subtitle"/>
          <p:cNvSpPr txBox="1"/>
          <p:nvPr/>
        </p:nvSpPr>
        <p:spPr>
          <a:xfrm>
            <a:off x="5646420" y="1755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Alter data or disrupt service</a:t>
            </a:r>
            <a:endParaRPr lang="en-US" sz="1400" dirty="0"/>
          </a:p>
        </p:txBody>
      </p:sp>
      <p:sp>
        <p:nvSpPr>
          <p:cNvPr id="14" name="Active bullets"/>
          <p:cNvSpPr txBox="1"/>
          <p:nvPr/>
        </p:nvSpPr>
        <p:spPr>
          <a:xfrm>
            <a:off x="4914900" y="233172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Easier to detect, hard to prevent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Targets integrity, availability, authenticity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Masquerade, replay, modification, 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Defense: detection and recovery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Active Attacks Up Close</a:t>
            </a:r>
            <a:endParaRPr lang="en-US" sz="3600" dirty="0"/>
          </a:p>
        </p:txBody>
      </p:sp>
      <p:sp>
        <p:nvSpPr>
          <p:cNvPr id="3" name="Active card 1"/>
          <p:cNvSpPr/>
          <p:nvPr/>
        </p:nvSpPr>
        <p:spPr>
          <a:xfrm>
            <a:off x="457200" y="1188720"/>
            <a:ext cx="1920240" cy="33832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Active 1 circle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5" name="Activ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1538021"/>
            <a:ext cx="307238" cy="307238"/>
          </a:xfrm>
          <a:prstGeom prst="rect">
            <a:avLst/>
          </a:prstGeom>
        </p:spPr>
      </p:pic>
      <p:sp>
        <p:nvSpPr>
          <p:cNvPr id="6" name="Active title 1"/>
          <p:cNvSpPr txBox="1"/>
          <p:nvPr/>
        </p:nvSpPr>
        <p:spPr>
          <a:xfrm>
            <a:off x="6400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Masquerade</a:t>
            </a:r>
            <a:endParaRPr lang="en-US" sz="1600" dirty="0"/>
          </a:p>
        </p:txBody>
      </p:sp>
      <p:sp>
        <p:nvSpPr>
          <p:cNvPr id="7" name="Active text 1"/>
          <p:cNvSpPr txBox="1"/>
          <p:nvPr/>
        </p:nvSpPr>
        <p:spPr>
          <a:xfrm>
            <a:off x="640080" y="2578608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Attacker poses as a legitimate user or system</a:t>
            </a:r>
            <a:endParaRPr lang="en-US" sz="1400" dirty="0"/>
          </a:p>
        </p:txBody>
      </p:sp>
      <p:sp>
        <p:nvSpPr>
          <p:cNvPr id="8" name="Active tag 1"/>
          <p:cNvSpPr/>
          <p:nvPr/>
        </p:nvSpPr>
        <p:spPr>
          <a:xfrm>
            <a:off x="640080" y="397764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9" name="Active tag text 1"/>
          <p:cNvSpPr txBox="1"/>
          <p:nvPr/>
        </p:nvSpPr>
        <p:spPr>
          <a:xfrm>
            <a:off x="64008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Authentication</a:t>
            </a:r>
            <a:endParaRPr lang="en-US" sz="1200" dirty="0"/>
          </a:p>
        </p:txBody>
      </p:sp>
      <p:sp>
        <p:nvSpPr>
          <p:cNvPr id="10" name="Active card 2"/>
          <p:cNvSpPr/>
          <p:nvPr/>
        </p:nvSpPr>
        <p:spPr>
          <a:xfrm>
            <a:off x="2560320" y="1188720"/>
            <a:ext cx="1920240" cy="33832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Active 2 circle"/>
          <p:cNvSpPr/>
          <p:nvPr/>
        </p:nvSpPr>
        <p:spPr>
          <a:xfrm>
            <a:off x="2743200" y="1371600"/>
            <a:ext cx="640080" cy="640080"/>
          </a:xfrm>
          <a:prstGeom prst="ellipse">
            <a:avLst/>
          </a:prstGeom>
          <a:solidFill>
            <a:srgbClr val="0096C7"/>
          </a:solidFill>
          <a:ln/>
        </p:spPr>
      </p:sp>
      <p:pic>
        <p:nvPicPr>
          <p:cNvPr id="12" name="Activ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621" y="1538021"/>
            <a:ext cx="307238" cy="307238"/>
          </a:xfrm>
          <a:prstGeom prst="rect">
            <a:avLst/>
          </a:prstGeom>
        </p:spPr>
      </p:pic>
      <p:sp>
        <p:nvSpPr>
          <p:cNvPr id="13" name="Active title 2"/>
          <p:cNvSpPr txBox="1"/>
          <p:nvPr/>
        </p:nvSpPr>
        <p:spPr>
          <a:xfrm>
            <a:off x="274320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Replay</a:t>
            </a:r>
            <a:endParaRPr lang="en-US" sz="1600" dirty="0"/>
          </a:p>
        </p:txBody>
      </p:sp>
      <p:sp>
        <p:nvSpPr>
          <p:cNvPr id="14" name="Active text 2"/>
          <p:cNvSpPr txBox="1"/>
          <p:nvPr/>
        </p:nvSpPr>
        <p:spPr>
          <a:xfrm>
            <a:off x="2743200" y="2578608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Captured valid messages are re-sent later</a:t>
            </a:r>
            <a:endParaRPr lang="en-US" sz="1400" dirty="0"/>
          </a:p>
        </p:txBody>
      </p:sp>
      <p:sp>
        <p:nvSpPr>
          <p:cNvPr id="15" name="Active tag 2"/>
          <p:cNvSpPr/>
          <p:nvPr/>
        </p:nvSpPr>
        <p:spPr>
          <a:xfrm>
            <a:off x="2743200" y="397764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6" name="Active tag text 2"/>
          <p:cNvSpPr txBox="1"/>
          <p:nvPr/>
        </p:nvSpPr>
        <p:spPr>
          <a:xfrm>
            <a:off x="274320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Integrity</a:t>
            </a:r>
            <a:endParaRPr lang="en-US" sz="1200" dirty="0"/>
          </a:p>
        </p:txBody>
      </p:sp>
      <p:sp>
        <p:nvSpPr>
          <p:cNvPr id="17" name="Active card 3"/>
          <p:cNvSpPr/>
          <p:nvPr/>
        </p:nvSpPr>
        <p:spPr>
          <a:xfrm>
            <a:off x="4663440" y="1188720"/>
            <a:ext cx="1920240" cy="33832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8" name="Active 3 circle"/>
          <p:cNvSpPr/>
          <p:nvPr/>
        </p:nvSpPr>
        <p:spPr>
          <a:xfrm>
            <a:off x="4846320" y="1371600"/>
            <a:ext cx="640080" cy="640080"/>
          </a:xfrm>
          <a:prstGeom prst="ellipse">
            <a:avLst/>
          </a:prstGeom>
          <a:solidFill>
            <a:srgbClr val="E88D2A"/>
          </a:solidFill>
          <a:ln/>
        </p:spPr>
      </p:sp>
      <p:pic>
        <p:nvPicPr>
          <p:cNvPr id="19" name="Activ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741" y="1538021"/>
            <a:ext cx="307238" cy="307238"/>
          </a:xfrm>
          <a:prstGeom prst="rect">
            <a:avLst/>
          </a:prstGeom>
        </p:spPr>
      </p:pic>
      <p:sp>
        <p:nvSpPr>
          <p:cNvPr id="20" name="Active title 3"/>
          <p:cNvSpPr txBox="1"/>
          <p:nvPr/>
        </p:nvSpPr>
        <p:spPr>
          <a:xfrm>
            <a:off x="484632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Modification</a:t>
            </a:r>
            <a:endParaRPr lang="en-US" sz="1600" dirty="0"/>
          </a:p>
        </p:txBody>
      </p:sp>
      <p:sp>
        <p:nvSpPr>
          <p:cNvPr id="21" name="Active text 3"/>
          <p:cNvSpPr txBox="1"/>
          <p:nvPr/>
        </p:nvSpPr>
        <p:spPr>
          <a:xfrm>
            <a:off x="4846320" y="2578608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Messages are altered, delayed or reordered</a:t>
            </a:r>
            <a:endParaRPr lang="en-US" sz="1400" dirty="0"/>
          </a:p>
        </p:txBody>
      </p:sp>
      <p:sp>
        <p:nvSpPr>
          <p:cNvPr id="22" name="Active tag 3"/>
          <p:cNvSpPr/>
          <p:nvPr/>
        </p:nvSpPr>
        <p:spPr>
          <a:xfrm>
            <a:off x="4846320" y="397764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3" name="Active tag text 3"/>
          <p:cNvSpPr txBox="1"/>
          <p:nvPr/>
        </p:nvSpPr>
        <p:spPr>
          <a:xfrm>
            <a:off x="484632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Integrity</a:t>
            </a:r>
            <a:endParaRPr lang="en-US" sz="1200" dirty="0"/>
          </a:p>
        </p:txBody>
      </p:sp>
      <p:sp>
        <p:nvSpPr>
          <p:cNvPr id="24" name="Active card 4"/>
          <p:cNvSpPr/>
          <p:nvPr/>
        </p:nvSpPr>
        <p:spPr>
          <a:xfrm>
            <a:off x="6766560" y="1188720"/>
            <a:ext cx="1920240" cy="33832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5" name="Active 4 circle"/>
          <p:cNvSpPr/>
          <p:nvPr/>
        </p:nvSpPr>
        <p:spPr>
          <a:xfrm>
            <a:off x="6949440" y="137160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6" name="Active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5861" y="1538021"/>
            <a:ext cx="307238" cy="307238"/>
          </a:xfrm>
          <a:prstGeom prst="rect">
            <a:avLst/>
          </a:prstGeom>
        </p:spPr>
      </p:pic>
      <p:sp>
        <p:nvSpPr>
          <p:cNvPr id="27" name="Active title 4"/>
          <p:cNvSpPr txBox="1"/>
          <p:nvPr/>
        </p:nvSpPr>
        <p:spPr>
          <a:xfrm>
            <a:off x="694944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Denial of Service</a:t>
            </a:r>
            <a:endParaRPr lang="en-US" sz="1600" dirty="0"/>
          </a:p>
        </p:txBody>
      </p:sp>
      <p:sp>
        <p:nvSpPr>
          <p:cNvPr id="28" name="Active text 4"/>
          <p:cNvSpPr txBox="1"/>
          <p:nvPr/>
        </p:nvSpPr>
        <p:spPr>
          <a:xfrm>
            <a:off x="6949440" y="2578608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Resources are flooded so users are locked out</a:t>
            </a:r>
            <a:endParaRPr lang="en-US" sz="1400" dirty="0"/>
          </a:p>
        </p:txBody>
      </p:sp>
      <p:sp>
        <p:nvSpPr>
          <p:cNvPr id="29" name="Active tag 4"/>
          <p:cNvSpPr/>
          <p:nvPr/>
        </p:nvSpPr>
        <p:spPr>
          <a:xfrm>
            <a:off x="6949440" y="397764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0" name="Active tag text 4"/>
          <p:cNvSpPr txBox="1"/>
          <p:nvPr/>
        </p:nvSpPr>
        <p:spPr>
          <a:xfrm>
            <a:off x="694944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Availability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Common Threats Today</a:t>
            </a:r>
            <a:endParaRPr lang="en-US" sz="3600" dirty="0"/>
          </a:p>
        </p:txBody>
      </p:sp>
      <p:sp>
        <p:nvSpPr>
          <p:cNvPr id="3" name="Threat card 1"/>
          <p:cNvSpPr/>
          <p:nvPr/>
        </p:nvSpPr>
        <p:spPr>
          <a:xfrm>
            <a:off x="45720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Threat 1 circle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5" name="Threat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219456" cy="219456"/>
          </a:xfrm>
          <a:prstGeom prst="rect">
            <a:avLst/>
          </a:prstGeom>
        </p:spPr>
      </p:pic>
      <p:sp>
        <p:nvSpPr>
          <p:cNvPr id="6" name="Threat name 1"/>
          <p:cNvSpPr txBox="1"/>
          <p:nvPr/>
        </p:nvSpPr>
        <p:spPr>
          <a:xfrm>
            <a:off x="59436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Malware</a:t>
            </a:r>
            <a:endParaRPr lang="en-US" sz="1500" dirty="0"/>
          </a:p>
        </p:txBody>
      </p:sp>
      <p:sp>
        <p:nvSpPr>
          <p:cNvPr id="7" name="Threat text 1"/>
          <p:cNvSpPr txBox="1"/>
          <p:nvPr/>
        </p:nvSpPr>
        <p:spPr>
          <a:xfrm>
            <a:off x="594360" y="21762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Viruses, worms and trojans</a:t>
            </a:r>
            <a:endParaRPr lang="en-US" sz="1400" dirty="0"/>
          </a:p>
        </p:txBody>
      </p:sp>
      <p:sp>
        <p:nvSpPr>
          <p:cNvPr id="8" name="Threat card 2"/>
          <p:cNvSpPr/>
          <p:nvPr/>
        </p:nvSpPr>
        <p:spPr>
          <a:xfrm>
            <a:off x="256032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9" name="Threat 2 circle"/>
          <p:cNvSpPr/>
          <p:nvPr/>
        </p:nvSpPr>
        <p:spPr>
          <a:xfrm>
            <a:off x="2697480" y="1325880"/>
            <a:ext cx="457200" cy="457200"/>
          </a:xfrm>
          <a:prstGeom prst="ellipse">
            <a:avLst/>
          </a:prstGeom>
          <a:solidFill>
            <a:srgbClr val="0096C7"/>
          </a:solidFill>
          <a:ln/>
        </p:spPr>
      </p:sp>
      <p:pic>
        <p:nvPicPr>
          <p:cNvPr id="10" name="Threat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52" y="1444752"/>
            <a:ext cx="219456" cy="219456"/>
          </a:xfrm>
          <a:prstGeom prst="rect">
            <a:avLst/>
          </a:prstGeom>
        </p:spPr>
      </p:pic>
      <p:sp>
        <p:nvSpPr>
          <p:cNvPr id="11" name="Threat name 2"/>
          <p:cNvSpPr txBox="1"/>
          <p:nvPr/>
        </p:nvSpPr>
        <p:spPr>
          <a:xfrm>
            <a:off x="269748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Phishing</a:t>
            </a:r>
            <a:endParaRPr lang="en-US" sz="1500" dirty="0"/>
          </a:p>
        </p:txBody>
      </p:sp>
      <p:sp>
        <p:nvSpPr>
          <p:cNvPr id="12" name="Threat text 2"/>
          <p:cNvSpPr txBox="1"/>
          <p:nvPr/>
        </p:nvSpPr>
        <p:spPr>
          <a:xfrm>
            <a:off x="2697480" y="21762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Fake messages steal credentials</a:t>
            </a:r>
            <a:endParaRPr lang="en-US" sz="1400" dirty="0"/>
          </a:p>
        </p:txBody>
      </p:sp>
      <p:sp>
        <p:nvSpPr>
          <p:cNvPr id="13" name="Threat card 3"/>
          <p:cNvSpPr/>
          <p:nvPr/>
        </p:nvSpPr>
        <p:spPr>
          <a:xfrm>
            <a:off x="466344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4" name="Threat 3 circle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rgbClr val="E88D2A"/>
          </a:solidFill>
          <a:ln/>
        </p:spPr>
      </p:sp>
      <p:pic>
        <p:nvPicPr>
          <p:cNvPr id="15" name="Threat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444752"/>
            <a:ext cx="219456" cy="219456"/>
          </a:xfrm>
          <a:prstGeom prst="rect">
            <a:avLst/>
          </a:prstGeom>
        </p:spPr>
      </p:pic>
      <p:sp>
        <p:nvSpPr>
          <p:cNvPr id="16" name="Threat name 3"/>
          <p:cNvSpPr txBox="1"/>
          <p:nvPr/>
        </p:nvSpPr>
        <p:spPr>
          <a:xfrm>
            <a:off x="480060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Ransomware</a:t>
            </a:r>
            <a:endParaRPr lang="en-US" sz="1500" dirty="0"/>
          </a:p>
        </p:txBody>
      </p:sp>
      <p:sp>
        <p:nvSpPr>
          <p:cNvPr id="17" name="Threat text 3"/>
          <p:cNvSpPr txBox="1"/>
          <p:nvPr/>
        </p:nvSpPr>
        <p:spPr>
          <a:xfrm>
            <a:off x="4800600" y="21762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Encrypts data and demands payment</a:t>
            </a:r>
            <a:endParaRPr lang="en-US" sz="1400" dirty="0"/>
          </a:p>
        </p:txBody>
      </p:sp>
      <p:sp>
        <p:nvSpPr>
          <p:cNvPr id="18" name="Threat card 4"/>
          <p:cNvSpPr/>
          <p:nvPr/>
        </p:nvSpPr>
        <p:spPr>
          <a:xfrm>
            <a:off x="676656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9" name="Threat 4 circle"/>
          <p:cNvSpPr/>
          <p:nvPr/>
        </p:nvSpPr>
        <p:spPr>
          <a:xfrm>
            <a:off x="6903720" y="132588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Threat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1444752"/>
            <a:ext cx="219456" cy="219456"/>
          </a:xfrm>
          <a:prstGeom prst="rect">
            <a:avLst/>
          </a:prstGeom>
        </p:spPr>
      </p:pic>
      <p:sp>
        <p:nvSpPr>
          <p:cNvPr id="21" name="Threat name 4"/>
          <p:cNvSpPr txBox="1"/>
          <p:nvPr/>
        </p:nvSpPr>
        <p:spPr>
          <a:xfrm>
            <a:off x="690372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SQL Injection</a:t>
            </a:r>
            <a:endParaRPr lang="en-US" sz="1500" dirty="0"/>
          </a:p>
        </p:txBody>
      </p:sp>
      <p:sp>
        <p:nvSpPr>
          <p:cNvPr id="22" name="Threat text 4"/>
          <p:cNvSpPr txBox="1"/>
          <p:nvPr/>
        </p:nvSpPr>
        <p:spPr>
          <a:xfrm>
            <a:off x="6903720" y="21762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Malicious queries reach the database</a:t>
            </a:r>
            <a:endParaRPr lang="en-US" sz="1400" dirty="0"/>
          </a:p>
        </p:txBody>
      </p:sp>
      <p:sp>
        <p:nvSpPr>
          <p:cNvPr id="23" name="Threat card 5"/>
          <p:cNvSpPr/>
          <p:nvPr/>
        </p:nvSpPr>
        <p:spPr>
          <a:xfrm>
            <a:off x="457200" y="292608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4" name="Threat 5 circle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5" name="Threat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182112"/>
            <a:ext cx="219456" cy="219456"/>
          </a:xfrm>
          <a:prstGeom prst="rect">
            <a:avLst/>
          </a:prstGeom>
        </p:spPr>
      </p:pic>
      <p:sp>
        <p:nvSpPr>
          <p:cNvPr id="26" name="Threat name 5"/>
          <p:cNvSpPr txBox="1"/>
          <p:nvPr/>
        </p:nvSpPr>
        <p:spPr>
          <a:xfrm>
            <a:off x="59436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Man-in-the-Middle</a:t>
            </a:r>
            <a:endParaRPr lang="en-US" sz="1500" dirty="0"/>
          </a:p>
        </p:txBody>
      </p:sp>
      <p:sp>
        <p:nvSpPr>
          <p:cNvPr id="27" name="Threat text 5"/>
          <p:cNvSpPr txBox="1"/>
          <p:nvPr/>
        </p:nvSpPr>
        <p:spPr>
          <a:xfrm>
            <a:off x="594360" y="39136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Intercepts and alters live traffic</a:t>
            </a:r>
            <a:endParaRPr lang="en-US" sz="1400" dirty="0"/>
          </a:p>
        </p:txBody>
      </p:sp>
      <p:sp>
        <p:nvSpPr>
          <p:cNvPr id="28" name="Threat card 6"/>
          <p:cNvSpPr/>
          <p:nvPr/>
        </p:nvSpPr>
        <p:spPr>
          <a:xfrm>
            <a:off x="2560320" y="292608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9" name="Threat 6 circle"/>
          <p:cNvSpPr/>
          <p:nvPr/>
        </p:nvSpPr>
        <p:spPr>
          <a:xfrm>
            <a:off x="2697480" y="3063240"/>
            <a:ext cx="457200" cy="45720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30" name="Threat 6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6352" y="3182112"/>
            <a:ext cx="219456" cy="219456"/>
          </a:xfrm>
          <a:prstGeom prst="rect">
            <a:avLst/>
          </a:prstGeom>
        </p:spPr>
      </p:pic>
      <p:sp>
        <p:nvSpPr>
          <p:cNvPr id="31" name="Threat name 6"/>
          <p:cNvSpPr txBox="1"/>
          <p:nvPr/>
        </p:nvSpPr>
        <p:spPr>
          <a:xfrm>
            <a:off x="269748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DDoS</a:t>
            </a:r>
            <a:endParaRPr lang="en-US" sz="1500" dirty="0"/>
          </a:p>
        </p:txBody>
      </p:sp>
      <p:sp>
        <p:nvSpPr>
          <p:cNvPr id="32" name="Threat text 6"/>
          <p:cNvSpPr txBox="1"/>
          <p:nvPr/>
        </p:nvSpPr>
        <p:spPr>
          <a:xfrm>
            <a:off x="2697480" y="39136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Botnet floods a target with traffic</a:t>
            </a:r>
            <a:endParaRPr lang="en-US" sz="1400" dirty="0"/>
          </a:p>
        </p:txBody>
      </p:sp>
      <p:sp>
        <p:nvSpPr>
          <p:cNvPr id="33" name="Threat card 7"/>
          <p:cNvSpPr/>
          <p:nvPr/>
        </p:nvSpPr>
        <p:spPr>
          <a:xfrm>
            <a:off x="4663440" y="292608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4" name="Threat 7 circle"/>
          <p:cNvSpPr/>
          <p:nvPr/>
        </p:nvSpPr>
        <p:spPr>
          <a:xfrm>
            <a:off x="4800600" y="3063240"/>
            <a:ext cx="457200" cy="457200"/>
          </a:xfrm>
          <a:prstGeom prst="ellipse">
            <a:avLst/>
          </a:prstGeom>
          <a:solidFill>
            <a:srgbClr val="0096C7"/>
          </a:solidFill>
          <a:ln/>
        </p:spPr>
      </p:sp>
      <p:pic>
        <p:nvPicPr>
          <p:cNvPr id="35" name="Threat 7 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3182112"/>
            <a:ext cx="219456" cy="219456"/>
          </a:xfrm>
          <a:prstGeom prst="rect">
            <a:avLst/>
          </a:prstGeom>
        </p:spPr>
      </p:pic>
      <p:sp>
        <p:nvSpPr>
          <p:cNvPr id="36" name="Threat name 7"/>
          <p:cNvSpPr txBox="1"/>
          <p:nvPr/>
        </p:nvSpPr>
        <p:spPr>
          <a:xfrm>
            <a:off x="480060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Insider Threat</a:t>
            </a:r>
            <a:endParaRPr lang="en-US" sz="1500" dirty="0"/>
          </a:p>
        </p:txBody>
      </p:sp>
      <p:sp>
        <p:nvSpPr>
          <p:cNvPr id="37" name="Threat text 7"/>
          <p:cNvSpPr txBox="1"/>
          <p:nvPr/>
        </p:nvSpPr>
        <p:spPr>
          <a:xfrm>
            <a:off x="4800600" y="39136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Misuse by trusted people</a:t>
            </a:r>
            <a:endParaRPr lang="en-US" sz="1400" dirty="0"/>
          </a:p>
        </p:txBody>
      </p:sp>
      <p:sp>
        <p:nvSpPr>
          <p:cNvPr id="38" name="Threat card 8"/>
          <p:cNvSpPr/>
          <p:nvPr/>
        </p:nvSpPr>
        <p:spPr>
          <a:xfrm>
            <a:off x="6766560" y="292608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9" name="Threat 8 circle"/>
          <p:cNvSpPr/>
          <p:nvPr/>
        </p:nvSpPr>
        <p:spPr>
          <a:xfrm>
            <a:off x="6903720" y="3063240"/>
            <a:ext cx="457200" cy="457200"/>
          </a:xfrm>
          <a:prstGeom prst="ellipse">
            <a:avLst/>
          </a:prstGeom>
          <a:solidFill>
            <a:srgbClr val="E88D2A"/>
          </a:solidFill>
          <a:ln/>
        </p:spPr>
      </p:sp>
      <p:pic>
        <p:nvPicPr>
          <p:cNvPr id="40" name="Threat 8 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2592" y="3182112"/>
            <a:ext cx="219456" cy="219456"/>
          </a:xfrm>
          <a:prstGeom prst="rect">
            <a:avLst/>
          </a:prstGeom>
        </p:spPr>
      </p:pic>
      <p:sp>
        <p:nvSpPr>
          <p:cNvPr id="41" name="Threat name 8"/>
          <p:cNvSpPr txBox="1"/>
          <p:nvPr/>
        </p:nvSpPr>
        <p:spPr>
          <a:xfrm>
            <a:off x="690372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Social Engineering</a:t>
            </a:r>
            <a:endParaRPr lang="en-US" sz="1500" dirty="0"/>
          </a:p>
        </p:txBody>
      </p:sp>
      <p:sp>
        <p:nvSpPr>
          <p:cNvPr id="42" name="Threat text 8"/>
          <p:cNvSpPr txBox="1"/>
          <p:nvPr/>
        </p:nvSpPr>
        <p:spPr>
          <a:xfrm>
            <a:off x="6903720" y="39136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Manipulates people, not systems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Impact on Security Goals</a:t>
            </a:r>
            <a:endParaRPr lang="en-US" sz="3600" dirty="0"/>
          </a:p>
        </p:txBody>
      </p:sp>
      <p:graphicFrame>
        <p:nvGraphicFramePr>
          <p:cNvPr id="9" name="Impact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Attack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Confidentiality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Integrity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Availability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Authentication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Non-repudiation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Eavesdropping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Traffic analysis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Masquerade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Replay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Modification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DoS / DDoS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Ransomware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22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SQL injection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62839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●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Matrix legend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●  goal compromised by the attack. Integrity is the most frequently hit goal in this 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Managing Risk</a:t>
            </a:r>
            <a:endParaRPr lang="en-US" sz="3600" dirty="0"/>
          </a:p>
        </p:txBody>
      </p:sp>
      <p:sp>
        <p:nvSpPr>
          <p:cNvPr id="3" name="Connector 1"/>
          <p:cNvSpPr/>
          <p:nvPr/>
        </p:nvSpPr>
        <p:spPr>
          <a:xfrm>
            <a:off x="1645920" y="1600200"/>
            <a:ext cx="914400" cy="0"/>
          </a:xfrm>
          <a:prstGeom prst="line">
            <a:avLst/>
          </a:prstGeom>
          <a:noFill/>
          <a:ln w="25400">
            <a:solidFill>
              <a:srgbClr val="9AA5B8"/>
            </a:solidFill>
            <a:prstDash val="dash"/>
          </a:ln>
        </p:spPr>
      </p:sp>
      <p:sp>
        <p:nvSpPr>
          <p:cNvPr id="4" name="Step circle 1"/>
          <p:cNvSpPr/>
          <p:nvPr/>
        </p:nvSpPr>
        <p:spPr>
          <a:xfrm>
            <a:off x="914400" y="1234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91440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tep title 1"/>
          <p:cNvSpPr txBox="1"/>
          <p:nvPr/>
        </p:nvSpPr>
        <p:spPr>
          <a:xfrm>
            <a:off x="50292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Identify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50292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List critical assets and owners</a:t>
            </a:r>
            <a:endParaRPr lang="en-US" sz="1400" dirty="0"/>
          </a:p>
        </p:txBody>
      </p:sp>
      <p:sp>
        <p:nvSpPr>
          <p:cNvPr id="8" name="Connector 2"/>
          <p:cNvSpPr/>
          <p:nvPr/>
        </p:nvSpPr>
        <p:spPr>
          <a:xfrm>
            <a:off x="3291840" y="1600200"/>
            <a:ext cx="914400" cy="0"/>
          </a:xfrm>
          <a:prstGeom prst="line">
            <a:avLst/>
          </a:prstGeom>
          <a:noFill/>
          <a:ln w="25400">
            <a:solidFill>
              <a:srgbClr val="9AA5B8"/>
            </a:solidFill>
            <a:prstDash val="dash"/>
          </a:ln>
        </p:spPr>
      </p:sp>
      <p:sp>
        <p:nvSpPr>
          <p:cNvPr id="9" name="Step circle 2"/>
          <p:cNvSpPr/>
          <p:nvPr/>
        </p:nvSpPr>
        <p:spPr>
          <a:xfrm>
            <a:off x="2560320" y="1234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Step number 2"/>
          <p:cNvSpPr txBox="1"/>
          <p:nvPr/>
        </p:nvSpPr>
        <p:spPr>
          <a:xfrm>
            <a:off x="256032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Step title 2"/>
          <p:cNvSpPr txBox="1"/>
          <p:nvPr/>
        </p:nvSpPr>
        <p:spPr>
          <a:xfrm>
            <a:off x="214884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Analyze</a:t>
            </a:r>
            <a:endParaRPr lang="en-US" sz="1600" dirty="0"/>
          </a:p>
        </p:txBody>
      </p:sp>
      <p:sp>
        <p:nvSpPr>
          <p:cNvPr id="12" name="Step text 2"/>
          <p:cNvSpPr txBox="1"/>
          <p:nvPr/>
        </p:nvSpPr>
        <p:spPr>
          <a:xfrm>
            <a:off x="214884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Find threats and vulnerabilities</a:t>
            </a:r>
            <a:endParaRPr lang="en-US" sz="1400" dirty="0"/>
          </a:p>
        </p:txBody>
      </p:sp>
      <p:sp>
        <p:nvSpPr>
          <p:cNvPr id="13" name="Connector 3"/>
          <p:cNvSpPr/>
          <p:nvPr/>
        </p:nvSpPr>
        <p:spPr>
          <a:xfrm>
            <a:off x="4937760" y="1600200"/>
            <a:ext cx="914400" cy="0"/>
          </a:xfrm>
          <a:prstGeom prst="line">
            <a:avLst/>
          </a:prstGeom>
          <a:noFill/>
          <a:ln w="25400">
            <a:solidFill>
              <a:srgbClr val="9AA5B8"/>
            </a:solidFill>
            <a:prstDash val="dash"/>
          </a:ln>
        </p:spPr>
      </p:sp>
      <p:sp>
        <p:nvSpPr>
          <p:cNvPr id="14" name="Step circle 3"/>
          <p:cNvSpPr/>
          <p:nvPr/>
        </p:nvSpPr>
        <p:spPr>
          <a:xfrm>
            <a:off x="4206240" y="1234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Step number 3"/>
          <p:cNvSpPr txBox="1"/>
          <p:nvPr/>
        </p:nvSpPr>
        <p:spPr>
          <a:xfrm>
            <a:off x="420624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Step title 3"/>
          <p:cNvSpPr txBox="1"/>
          <p:nvPr/>
        </p:nvSpPr>
        <p:spPr>
          <a:xfrm>
            <a:off x="379476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Evaluate</a:t>
            </a:r>
            <a:endParaRPr lang="en-US" sz="1600" dirty="0"/>
          </a:p>
        </p:txBody>
      </p:sp>
      <p:sp>
        <p:nvSpPr>
          <p:cNvPr id="17" name="Step text 3"/>
          <p:cNvSpPr txBox="1"/>
          <p:nvPr/>
        </p:nvSpPr>
        <p:spPr>
          <a:xfrm>
            <a:off x="379476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Rank by likelihood and impact</a:t>
            </a:r>
            <a:endParaRPr lang="en-US" sz="1400" dirty="0"/>
          </a:p>
        </p:txBody>
      </p:sp>
      <p:sp>
        <p:nvSpPr>
          <p:cNvPr id="18" name="Connector 4"/>
          <p:cNvSpPr/>
          <p:nvPr/>
        </p:nvSpPr>
        <p:spPr>
          <a:xfrm>
            <a:off x="6583680" y="1600200"/>
            <a:ext cx="914400" cy="0"/>
          </a:xfrm>
          <a:prstGeom prst="line">
            <a:avLst/>
          </a:prstGeom>
          <a:noFill/>
          <a:ln w="25400">
            <a:solidFill>
              <a:srgbClr val="9AA5B8"/>
            </a:solidFill>
            <a:prstDash val="dash"/>
          </a:ln>
        </p:spPr>
      </p:sp>
      <p:sp>
        <p:nvSpPr>
          <p:cNvPr id="19" name="Step circle 4"/>
          <p:cNvSpPr/>
          <p:nvPr/>
        </p:nvSpPr>
        <p:spPr>
          <a:xfrm>
            <a:off x="5852160" y="12344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number 4"/>
          <p:cNvSpPr txBox="1"/>
          <p:nvPr/>
        </p:nvSpPr>
        <p:spPr>
          <a:xfrm>
            <a:off x="585216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Step title 4"/>
          <p:cNvSpPr txBox="1"/>
          <p:nvPr/>
        </p:nvSpPr>
        <p:spPr>
          <a:xfrm>
            <a:off x="54406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Treat</a:t>
            </a:r>
            <a:endParaRPr lang="en-US" sz="1600" dirty="0"/>
          </a:p>
        </p:txBody>
      </p:sp>
      <p:sp>
        <p:nvSpPr>
          <p:cNvPr id="22" name="Step text 4"/>
          <p:cNvSpPr txBox="1"/>
          <p:nvPr/>
        </p:nvSpPr>
        <p:spPr>
          <a:xfrm>
            <a:off x="544068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Select and apply controls</a:t>
            </a:r>
            <a:endParaRPr lang="en-US" sz="1400" dirty="0"/>
          </a:p>
        </p:txBody>
      </p:sp>
      <p:sp>
        <p:nvSpPr>
          <p:cNvPr id="23" name="Step circle 5"/>
          <p:cNvSpPr/>
          <p:nvPr/>
        </p:nvSpPr>
        <p:spPr>
          <a:xfrm>
            <a:off x="7498080" y="1234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Step number 5"/>
          <p:cNvSpPr txBox="1"/>
          <p:nvPr/>
        </p:nvSpPr>
        <p:spPr>
          <a:xfrm>
            <a:off x="749808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Step title 5"/>
          <p:cNvSpPr txBox="1"/>
          <p:nvPr/>
        </p:nvSpPr>
        <p:spPr>
          <a:xfrm>
            <a:off x="708660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Monitor</a:t>
            </a:r>
            <a:endParaRPr lang="en-US" sz="1600" dirty="0"/>
          </a:p>
        </p:txBody>
      </p:sp>
      <p:sp>
        <p:nvSpPr>
          <p:cNvPr id="26" name="Step text 5"/>
          <p:cNvSpPr txBox="1"/>
          <p:nvPr/>
        </p:nvSpPr>
        <p:spPr>
          <a:xfrm>
            <a:off x="708660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Review as threats evolve</a:t>
            </a:r>
            <a:endParaRPr lang="en-US" sz="1400" dirty="0"/>
          </a:p>
        </p:txBody>
      </p:sp>
      <p:sp>
        <p:nvSpPr>
          <p:cNvPr id="27" name="Treatment heading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Risk treatment options</a:t>
            </a:r>
            <a:endParaRPr lang="en-US" sz="1800" dirty="0"/>
          </a:p>
        </p:txBody>
      </p:sp>
      <p:sp>
        <p:nvSpPr>
          <p:cNvPr id="28" name="Treatment card 1"/>
          <p:cNvSpPr/>
          <p:nvPr/>
        </p:nvSpPr>
        <p:spPr>
          <a:xfrm>
            <a:off x="457200" y="370332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9" name="Treatment text 1"/>
          <p:cNvSpPr txBox="1"/>
          <p:nvPr/>
        </p:nvSpPr>
        <p:spPr>
          <a:xfrm>
            <a:off x="59436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Mitigate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Apply controls</a:t>
            </a:r>
            <a:endParaRPr lang="en-US" sz="1600" dirty="0"/>
          </a:p>
        </p:txBody>
      </p:sp>
      <p:sp>
        <p:nvSpPr>
          <p:cNvPr id="30" name="Treatment card 2"/>
          <p:cNvSpPr/>
          <p:nvPr/>
        </p:nvSpPr>
        <p:spPr>
          <a:xfrm>
            <a:off x="2560320" y="370332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1" name="Treatment text 2"/>
          <p:cNvSpPr txBox="1"/>
          <p:nvPr/>
        </p:nvSpPr>
        <p:spPr>
          <a:xfrm>
            <a:off x="269748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Transfer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Insure or outsource</a:t>
            </a:r>
            <a:endParaRPr lang="en-US" sz="1600" dirty="0"/>
          </a:p>
        </p:txBody>
      </p:sp>
      <p:sp>
        <p:nvSpPr>
          <p:cNvPr id="32" name="Treatment card 3"/>
          <p:cNvSpPr/>
          <p:nvPr/>
        </p:nvSpPr>
        <p:spPr>
          <a:xfrm>
            <a:off x="4663440" y="370332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3" name="Treatment text 3"/>
          <p:cNvSpPr txBox="1"/>
          <p:nvPr/>
        </p:nvSpPr>
        <p:spPr>
          <a:xfrm>
            <a:off x="480060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Avoid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Drop the risky activity</a:t>
            </a:r>
            <a:endParaRPr lang="en-US" sz="1600" dirty="0"/>
          </a:p>
        </p:txBody>
      </p:sp>
      <p:sp>
        <p:nvSpPr>
          <p:cNvPr id="34" name="Treatment card 4"/>
          <p:cNvSpPr/>
          <p:nvPr/>
        </p:nvSpPr>
        <p:spPr>
          <a:xfrm>
            <a:off x="6766560" y="370332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5" name="Treatment text 4"/>
          <p:cNvSpPr txBox="1"/>
          <p:nvPr/>
        </p:nvSpPr>
        <p:spPr>
          <a:xfrm>
            <a:off x="690372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Accept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Tolerate low risk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Controls That Protect Each Goal</a:t>
            </a:r>
            <a:endParaRPr lang="en-US" sz="3600" dirty="0"/>
          </a:p>
        </p:txBody>
      </p:sp>
      <p:sp>
        <p:nvSpPr>
          <p:cNvPr id="3" name="Control row 1"/>
          <p:cNvSpPr/>
          <p:nvPr/>
        </p:nvSpPr>
        <p:spPr>
          <a:xfrm>
            <a:off x="457200" y="1188720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4" name="Control label 1"/>
          <p:cNvSpPr/>
          <p:nvPr/>
        </p:nvSpPr>
        <p:spPr>
          <a:xfrm>
            <a:off x="457200" y="1188720"/>
            <a:ext cx="2103120" cy="585216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5" name="Control goal 1"/>
          <p:cNvSpPr txBox="1"/>
          <p:nvPr/>
        </p:nvSpPr>
        <p:spPr>
          <a:xfrm>
            <a:off x="457200" y="118872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Confidentiality</a:t>
            </a:r>
            <a:endParaRPr lang="en-US" sz="1500" dirty="0"/>
          </a:p>
        </p:txBody>
      </p:sp>
      <p:sp>
        <p:nvSpPr>
          <p:cNvPr id="6" name="Control text 1"/>
          <p:cNvSpPr txBox="1"/>
          <p:nvPr/>
        </p:nvSpPr>
        <p:spPr>
          <a:xfrm>
            <a:off x="2743200" y="1188720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Encryption (AES, TLS), access control, data masking</a:t>
            </a:r>
            <a:endParaRPr lang="en-US" sz="1400" dirty="0"/>
          </a:p>
        </p:txBody>
      </p:sp>
      <p:sp>
        <p:nvSpPr>
          <p:cNvPr id="7" name="Control row 2"/>
          <p:cNvSpPr/>
          <p:nvPr/>
        </p:nvSpPr>
        <p:spPr>
          <a:xfrm>
            <a:off x="457200" y="1865376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8" name="Control label 2"/>
          <p:cNvSpPr/>
          <p:nvPr/>
        </p:nvSpPr>
        <p:spPr>
          <a:xfrm>
            <a:off x="457200" y="1865376"/>
            <a:ext cx="2103120" cy="585216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9" name="Control goal 2"/>
          <p:cNvSpPr txBox="1"/>
          <p:nvPr/>
        </p:nvSpPr>
        <p:spPr>
          <a:xfrm>
            <a:off x="457200" y="186537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Integrity</a:t>
            </a:r>
            <a:endParaRPr lang="en-US" sz="1500" dirty="0"/>
          </a:p>
        </p:txBody>
      </p:sp>
      <p:sp>
        <p:nvSpPr>
          <p:cNvPr id="10" name="Control text 2"/>
          <p:cNvSpPr txBox="1"/>
          <p:nvPr/>
        </p:nvSpPr>
        <p:spPr>
          <a:xfrm>
            <a:off x="2743200" y="1865376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Hashing (SHA-256), HMAC, digital signatures</a:t>
            </a:r>
            <a:endParaRPr lang="en-US" sz="1400" dirty="0"/>
          </a:p>
        </p:txBody>
      </p:sp>
      <p:sp>
        <p:nvSpPr>
          <p:cNvPr id="11" name="Control row 3"/>
          <p:cNvSpPr/>
          <p:nvPr/>
        </p:nvSpPr>
        <p:spPr>
          <a:xfrm>
            <a:off x="457200" y="2542032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12" name="Control label 3"/>
          <p:cNvSpPr/>
          <p:nvPr/>
        </p:nvSpPr>
        <p:spPr>
          <a:xfrm>
            <a:off x="457200" y="2542032"/>
            <a:ext cx="2103120" cy="585216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13" name="Control goal 3"/>
          <p:cNvSpPr txBox="1"/>
          <p:nvPr/>
        </p:nvSpPr>
        <p:spPr>
          <a:xfrm>
            <a:off x="457200" y="254203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Availability</a:t>
            </a:r>
            <a:endParaRPr lang="en-US" sz="1500" dirty="0"/>
          </a:p>
        </p:txBody>
      </p:sp>
      <p:sp>
        <p:nvSpPr>
          <p:cNvPr id="14" name="Control text 3"/>
          <p:cNvSpPr txBox="1"/>
          <p:nvPr/>
        </p:nvSpPr>
        <p:spPr>
          <a:xfrm>
            <a:off x="2743200" y="2542032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Redundancy, backups, DDoS protection, patching</a:t>
            </a:r>
            <a:endParaRPr lang="en-US" sz="1400" dirty="0"/>
          </a:p>
        </p:txBody>
      </p:sp>
      <p:sp>
        <p:nvSpPr>
          <p:cNvPr id="15" name="Control row 4"/>
          <p:cNvSpPr/>
          <p:nvPr/>
        </p:nvSpPr>
        <p:spPr>
          <a:xfrm>
            <a:off x="457200" y="3218688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16" name="Control label 4"/>
          <p:cNvSpPr/>
          <p:nvPr/>
        </p:nvSpPr>
        <p:spPr>
          <a:xfrm>
            <a:off x="457200" y="3218688"/>
            <a:ext cx="2103120" cy="585216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17" name="Control goal 4"/>
          <p:cNvSpPr txBox="1"/>
          <p:nvPr/>
        </p:nvSpPr>
        <p:spPr>
          <a:xfrm>
            <a:off x="457200" y="321868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18" name="Control text 4"/>
          <p:cNvSpPr txBox="1"/>
          <p:nvPr/>
        </p:nvSpPr>
        <p:spPr>
          <a:xfrm>
            <a:off x="2743200" y="3218688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Strong passwords with MFA, certificates, biometrics</a:t>
            </a:r>
            <a:endParaRPr lang="en-US" sz="1400" dirty="0"/>
          </a:p>
        </p:txBody>
      </p:sp>
      <p:sp>
        <p:nvSpPr>
          <p:cNvPr id="19" name="Control row 5"/>
          <p:cNvSpPr/>
          <p:nvPr/>
        </p:nvSpPr>
        <p:spPr>
          <a:xfrm>
            <a:off x="457200" y="3895344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/>
        </p:spPr>
      </p:sp>
      <p:sp>
        <p:nvSpPr>
          <p:cNvPr id="20" name="Control label 5"/>
          <p:cNvSpPr/>
          <p:nvPr/>
        </p:nvSpPr>
        <p:spPr>
          <a:xfrm>
            <a:off x="457200" y="3895344"/>
            <a:ext cx="2103120" cy="585216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21" name="Control goal 5"/>
          <p:cNvSpPr txBox="1"/>
          <p:nvPr/>
        </p:nvSpPr>
        <p:spPr>
          <a:xfrm>
            <a:off x="457200" y="389534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Non-repudiation</a:t>
            </a:r>
            <a:endParaRPr lang="en-US" sz="1500" dirty="0"/>
          </a:p>
        </p:txBody>
      </p:sp>
      <p:sp>
        <p:nvSpPr>
          <p:cNvPr id="22" name="Control text 5"/>
          <p:cNvSpPr txBox="1"/>
          <p:nvPr/>
        </p:nvSpPr>
        <p:spPr>
          <a:xfrm>
            <a:off x="2743200" y="3895344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Digital signatures, audit logs, trusted timestamps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Real-World Case Snapshots</a:t>
            </a:r>
            <a:endParaRPr lang="en-US" sz="3600" dirty="0"/>
          </a:p>
        </p:txBody>
      </p:sp>
      <p:sp>
        <p:nvSpPr>
          <p:cNvPr id="3" name="Case card 1"/>
          <p:cNvSpPr/>
          <p:nvPr/>
        </p:nvSpPr>
        <p:spPr>
          <a:xfrm>
            <a:off x="457200" y="1188720"/>
            <a:ext cx="2651760" cy="33832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Case year 1"/>
          <p:cNvSpPr txBox="1"/>
          <p:nvPr/>
        </p:nvSpPr>
        <p:spPr>
          <a:xfrm>
            <a:off x="685800" y="1325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2017</a:t>
            </a:r>
            <a:endParaRPr lang="en-US" sz="3600" dirty="0"/>
          </a:p>
        </p:txBody>
      </p:sp>
      <p:sp>
        <p:nvSpPr>
          <p:cNvPr id="5" name="Case name 1"/>
          <p:cNvSpPr txBox="1"/>
          <p:nvPr/>
        </p:nvSpPr>
        <p:spPr>
          <a:xfrm>
            <a:off x="68580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WannaCry</a:t>
            </a:r>
            <a:endParaRPr lang="en-US" sz="2000" dirty="0"/>
          </a:p>
        </p:txBody>
      </p:sp>
      <p:sp>
        <p:nvSpPr>
          <p:cNvPr id="6" name="Case text 1"/>
          <p:cNvSpPr txBox="1"/>
          <p:nvPr/>
        </p:nvSpPr>
        <p:spPr>
          <a:xfrm>
            <a:off x="685800" y="23317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Ransomware worm spread through an unpatched Windows SMB flaw.</a:t>
            </a:r>
            <a:endParaRPr lang="en-US" sz="1400" dirty="0"/>
          </a:p>
        </p:txBody>
      </p:sp>
      <p:sp>
        <p:nvSpPr>
          <p:cNvPr id="7" name="Case tag 1"/>
          <p:cNvSpPr/>
          <p:nvPr/>
        </p:nvSpPr>
        <p:spPr>
          <a:xfrm>
            <a:off x="685800" y="3611880"/>
            <a:ext cx="219456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8" name="Case tag text 1"/>
          <p:cNvSpPr txBox="1"/>
          <p:nvPr/>
        </p:nvSpPr>
        <p:spPr>
          <a:xfrm>
            <a:off x="68580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Hits: Availability</a:t>
            </a:r>
            <a:endParaRPr lang="en-US" sz="1200" dirty="0"/>
          </a:p>
        </p:txBody>
      </p:sp>
      <p:sp>
        <p:nvSpPr>
          <p:cNvPr id="9" name="Case lesson 1"/>
          <p:cNvSpPr txBox="1"/>
          <p:nvPr/>
        </p:nvSpPr>
        <p:spPr>
          <a:xfrm>
            <a:off x="68580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Lesson: patch quickly</a:t>
            </a:r>
            <a:endParaRPr lang="en-US" sz="1400" dirty="0"/>
          </a:p>
        </p:txBody>
      </p:sp>
      <p:sp>
        <p:nvSpPr>
          <p:cNvPr id="10" name="Case card 2"/>
          <p:cNvSpPr/>
          <p:nvPr/>
        </p:nvSpPr>
        <p:spPr>
          <a:xfrm>
            <a:off x="3246120" y="1188720"/>
            <a:ext cx="2651760" cy="33832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1" name="Case year 2"/>
          <p:cNvSpPr txBox="1"/>
          <p:nvPr/>
        </p:nvSpPr>
        <p:spPr>
          <a:xfrm>
            <a:off x="3474720" y="1325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2017</a:t>
            </a:r>
            <a:endParaRPr lang="en-US" sz="3600" dirty="0"/>
          </a:p>
        </p:txBody>
      </p:sp>
      <p:sp>
        <p:nvSpPr>
          <p:cNvPr id="12" name="Case name 2"/>
          <p:cNvSpPr txBox="1"/>
          <p:nvPr/>
        </p:nvSpPr>
        <p:spPr>
          <a:xfrm>
            <a:off x="347472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Equifax</a:t>
            </a:r>
            <a:endParaRPr lang="en-US" sz="2000" dirty="0"/>
          </a:p>
        </p:txBody>
      </p:sp>
      <p:sp>
        <p:nvSpPr>
          <p:cNvPr id="13" name="Case text 2"/>
          <p:cNvSpPr txBox="1"/>
          <p:nvPr/>
        </p:nvSpPr>
        <p:spPr>
          <a:xfrm>
            <a:off x="3474720" y="23317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An unpatched web application flaw exposed data of about 147 million people.</a:t>
            </a:r>
            <a:endParaRPr lang="en-US" sz="1400" dirty="0"/>
          </a:p>
        </p:txBody>
      </p:sp>
      <p:sp>
        <p:nvSpPr>
          <p:cNvPr id="14" name="Case tag 2"/>
          <p:cNvSpPr/>
          <p:nvPr/>
        </p:nvSpPr>
        <p:spPr>
          <a:xfrm>
            <a:off x="3474720" y="3611880"/>
            <a:ext cx="219456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5" name="Case tag text 2"/>
          <p:cNvSpPr txBox="1"/>
          <p:nvPr/>
        </p:nvSpPr>
        <p:spPr>
          <a:xfrm>
            <a:off x="347472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Hits: Confidentiality</a:t>
            </a:r>
            <a:endParaRPr lang="en-US" sz="1200" dirty="0"/>
          </a:p>
        </p:txBody>
      </p:sp>
      <p:sp>
        <p:nvSpPr>
          <p:cNvPr id="16" name="Case lesson 2"/>
          <p:cNvSpPr txBox="1"/>
          <p:nvPr/>
        </p:nvSpPr>
        <p:spPr>
          <a:xfrm>
            <a:off x="347472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Lesson: track assets</a:t>
            </a:r>
            <a:endParaRPr lang="en-US" sz="1400" dirty="0"/>
          </a:p>
        </p:txBody>
      </p:sp>
      <p:sp>
        <p:nvSpPr>
          <p:cNvPr id="17" name="Case card 3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8" name="Case year 3"/>
          <p:cNvSpPr txBox="1"/>
          <p:nvPr/>
        </p:nvSpPr>
        <p:spPr>
          <a:xfrm>
            <a:off x="6263640" y="1325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2016</a:t>
            </a:r>
            <a:endParaRPr lang="en-US" sz="3600" dirty="0"/>
          </a:p>
        </p:txBody>
      </p:sp>
      <p:sp>
        <p:nvSpPr>
          <p:cNvPr id="19" name="Case name 3"/>
          <p:cNvSpPr txBox="1"/>
          <p:nvPr/>
        </p:nvSpPr>
        <p:spPr>
          <a:xfrm>
            <a:off x="626364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Mirai</a:t>
            </a:r>
            <a:endParaRPr lang="en-US" sz="2000" dirty="0"/>
          </a:p>
        </p:txBody>
      </p:sp>
      <p:sp>
        <p:nvSpPr>
          <p:cNvPr id="20" name="Case text 3"/>
          <p:cNvSpPr txBox="1"/>
          <p:nvPr/>
        </p:nvSpPr>
        <p:spPr>
          <a:xfrm>
            <a:off x="6263640" y="23317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IoT devices with default passwords formed a botnet for record DDoS attacks.</a:t>
            </a:r>
            <a:endParaRPr lang="en-US" sz="1400" dirty="0"/>
          </a:p>
        </p:txBody>
      </p:sp>
      <p:sp>
        <p:nvSpPr>
          <p:cNvPr id="21" name="Case tag 3"/>
          <p:cNvSpPr/>
          <p:nvPr/>
        </p:nvSpPr>
        <p:spPr>
          <a:xfrm>
            <a:off x="6263640" y="3611880"/>
            <a:ext cx="219456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2" name="Case tag text 3"/>
          <p:cNvSpPr txBox="1"/>
          <p:nvPr/>
        </p:nvSpPr>
        <p:spPr>
          <a:xfrm>
            <a:off x="626364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Hits: Availability</a:t>
            </a:r>
            <a:endParaRPr lang="en-US" sz="1200" dirty="0"/>
          </a:p>
        </p:txBody>
      </p:sp>
      <p:sp>
        <p:nvSpPr>
          <p:cNvPr id="23" name="Case lesson 3"/>
          <p:cNvSpPr txBox="1"/>
          <p:nvPr/>
        </p:nvSpPr>
        <p:spPr>
          <a:xfrm>
            <a:off x="626364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Lesson: no default logins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Takeaway circl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keaway number 1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akeaway title 1"/>
          <p:cNvSpPr txBox="1"/>
          <p:nvPr/>
        </p:nvSpPr>
        <p:spPr>
          <a:xfrm>
            <a:off x="1188720" y="11887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Every attack breaks a goal</a:t>
            </a:r>
            <a:endParaRPr lang="en-US" sz="1800" dirty="0"/>
          </a:p>
        </p:txBody>
      </p:sp>
      <p:sp>
        <p:nvSpPr>
          <p:cNvPr id="6" name="Takeaway text 1"/>
          <p:cNvSpPr txBox="1"/>
          <p:nvPr/>
        </p:nvSpPr>
        <p:spPr>
          <a:xfrm>
            <a:off x="1188720" y="14904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4D9"/>
                </a:solidFill>
              </a:rPr>
              <a:t>Map attacks to confidentiality, integrity, availability, authentication or non-repudiation.</a:t>
            </a:r>
            <a:endParaRPr lang="en-US" sz="1400" dirty="0"/>
          </a:p>
        </p:txBody>
      </p:sp>
      <p:sp>
        <p:nvSpPr>
          <p:cNvPr id="7" name="Takeaway circle 2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akeaway number 2"/>
          <p:cNvSpPr txBox="1"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akeaway title 2"/>
          <p:cNvSpPr txBox="1"/>
          <p:nvPr/>
        </p:nvSpPr>
        <p:spPr>
          <a:xfrm>
            <a:off x="1188720" y="19659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Passive and active need different defenses</a:t>
            </a:r>
            <a:endParaRPr lang="en-US" sz="1800" dirty="0"/>
          </a:p>
        </p:txBody>
      </p:sp>
      <p:sp>
        <p:nvSpPr>
          <p:cNvPr id="10" name="Takeaway text 2"/>
          <p:cNvSpPr txBox="1"/>
          <p:nvPr/>
        </p:nvSpPr>
        <p:spPr>
          <a:xfrm>
            <a:off x="1188720" y="2267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4D9"/>
                </a:solidFill>
              </a:rPr>
              <a:t>Prevent eavesdropping; detect and recover from active attacks.</a:t>
            </a:r>
            <a:endParaRPr lang="en-US" sz="1400" dirty="0"/>
          </a:p>
        </p:txBody>
      </p:sp>
      <p:sp>
        <p:nvSpPr>
          <p:cNvPr id="11" name="Takeaway circle 3"/>
          <p:cNvSpPr/>
          <p:nvPr/>
        </p:nvSpPr>
        <p:spPr>
          <a:xfrm>
            <a:off x="457200" y="2788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akeaway number 3"/>
          <p:cNvSpPr txBox="1"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akeaway title 3"/>
          <p:cNvSpPr txBox="1"/>
          <p:nvPr/>
        </p:nvSpPr>
        <p:spPr>
          <a:xfrm>
            <a:off x="1188720" y="27432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Risk = Threat × Vulnerability × Impact</a:t>
            </a:r>
            <a:endParaRPr lang="en-US" sz="1800" dirty="0"/>
          </a:p>
        </p:txBody>
      </p:sp>
      <p:sp>
        <p:nvSpPr>
          <p:cNvPr id="14" name="Takeaway text 3"/>
          <p:cNvSpPr txBox="1"/>
          <p:nvPr/>
        </p:nvSpPr>
        <p:spPr>
          <a:xfrm>
            <a:off x="1188720" y="30449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4D9"/>
                </a:solidFill>
              </a:rPr>
              <a:t>Prioritize by likelihood and business impact, then treat.</a:t>
            </a:r>
            <a:endParaRPr lang="en-US" sz="1400" dirty="0"/>
          </a:p>
        </p:txBody>
      </p:sp>
      <p:sp>
        <p:nvSpPr>
          <p:cNvPr id="15" name="Takeaway circle 4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akeaway number 4"/>
          <p:cNvSpPr txBox="1"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akeaway title 4"/>
          <p:cNvSpPr txBox="1"/>
          <p:nvPr/>
        </p:nvSpPr>
        <p:spPr>
          <a:xfrm>
            <a:off x="1188720" y="3520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Layer your controls</a:t>
            </a:r>
            <a:endParaRPr lang="en-US" sz="1800" dirty="0"/>
          </a:p>
        </p:txBody>
      </p:sp>
      <p:sp>
        <p:nvSpPr>
          <p:cNvPr id="18" name="Takeaway text 4"/>
          <p:cNvSpPr txBox="1"/>
          <p:nvPr/>
        </p:nvSpPr>
        <p:spPr>
          <a:xfrm>
            <a:off x="1188720" y="38221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4D9"/>
                </a:solidFill>
              </a:rPr>
              <a:t>No single control covers all goals; combine technical and human defenses.</a:t>
            </a:r>
            <a:endParaRPr lang="en-US" sz="1400" dirty="0"/>
          </a:p>
        </p:txBody>
      </p:sp>
      <p:sp>
        <p:nvSpPr>
          <p:cNvPr id="19" name="Closing line"/>
          <p:cNvSpPr txBox="1"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  |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Shield">
  <a:themeElements>
    <a:clrScheme name="CyberShield">
      <a:dk1>
        <a:srgbClr val="0B1220"/>
      </a:dk1>
      <a:lt1>
        <a:srgbClr val="FFFFFF"/>
      </a:lt1>
      <a:dk2>
        <a:srgbClr val="16264A"/>
      </a:dk2>
      <a:lt2>
        <a:srgbClr val="EEF2F8"/>
      </a:lt2>
      <a:accent1>
        <a:srgbClr val="D62839"/>
      </a:accent1>
      <a:accent2>
        <a:srgbClr val="0096C7"/>
      </a:accent2>
      <a:accent3>
        <a:srgbClr val="E88D2A"/>
      </a:accent3>
      <a:accent4>
        <a:srgbClr val="2A9D8F"/>
      </a:accent4>
      <a:accent5>
        <a:srgbClr val="6B7280"/>
      </a:accent5>
      <a:accent6>
        <a:srgbClr val="7C3AED"/>
      </a:accent6>
      <a:hlink>
        <a:srgbClr val="0096C7"/>
      </a:hlink>
      <a:folHlink>
        <a:srgbClr val="7C3AED"/>
      </a:folHlink>
    </a:clrScheme>
    <a:fontScheme name="CyberShie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1009</Words>
  <Application>Microsoft Office PowerPoint</Application>
  <PresentationFormat>On-screen Show (16:9)</PresentationFormat>
  <Paragraphs>209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CyberShield</vt:lpstr>
      <vt:lpstr>Security Attacks, Threats, Risks and Their Impact on Security Goals</vt:lpstr>
      <vt:lpstr>What We Will Cover</vt:lpstr>
      <vt:lpstr>The Security Goals</vt:lpstr>
      <vt:lpstr>Threat, Vulnerability, Attack, Risk</vt:lpstr>
      <vt:lpstr>Passive vs Active Attacks</vt:lpstr>
      <vt:lpstr>Active Attacks Up Close</vt:lpstr>
      <vt:lpstr>Common Threats Today</vt:lpstr>
      <vt:lpstr>Impact on Security Goals</vt:lpstr>
      <vt:lpstr>Managing Risk</vt:lpstr>
      <vt:lpstr>Controls That Protect Each Goal</vt:lpstr>
      <vt:lpstr>Real-World Case Snapshots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Attacks, Threats, Risks and Their Impact on Security Goals</dc:title>
  <dc:subject>PptxGenJS Presentation</dc:subject>
  <dc:creator>PptxGenJS</dc:creator>
  <cp:lastModifiedBy>yashaswininamburi55@gmail.com</cp:lastModifiedBy>
  <cp:revision>2</cp:revision>
  <dcterms:created xsi:type="dcterms:W3CDTF">2026-10-09T00:58:31Z</dcterms:created>
  <dcterms:modified xsi:type="dcterms:W3CDTF">2026-10-09T03:24:24Z</dcterms:modified>
</cp:coreProperties>
</file>